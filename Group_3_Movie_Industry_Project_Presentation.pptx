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680" y="-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noham Jeptoo" userId="6903dde5dc185e64" providerId="LiveId" clId="{DE5B5285-7B2A-4415-A2F1-614B46D4DF2F}"/>
    <pc:docChg chg="custSel modSld">
      <pc:chgData name="Ainoham Jeptoo" userId="6903dde5dc185e64" providerId="LiveId" clId="{DE5B5285-7B2A-4415-A2F1-614B46D4DF2F}" dt="2026-08-18T16:27:32.343" v="239" actId="20577"/>
      <pc:docMkLst>
        <pc:docMk/>
      </pc:docMkLst>
      <pc:sldChg chg="delSp modSp mod">
        <pc:chgData name="Ainoham Jeptoo" userId="6903dde5dc185e64" providerId="LiveId" clId="{DE5B5285-7B2A-4415-A2F1-614B46D4DF2F}" dt="2026-08-18T16:27:32.343" v="239" actId="20577"/>
        <pc:sldMkLst>
          <pc:docMk/>
          <pc:sldMk cId="0" sldId="256"/>
        </pc:sldMkLst>
        <pc:spChg chg="mod">
          <ac:chgData name="Ainoham Jeptoo" userId="6903dde5dc185e64" providerId="LiveId" clId="{DE5B5285-7B2A-4415-A2F1-614B46D4DF2F}" dt="2026-08-18T16:27:32.343" v="23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inoham Jeptoo" userId="6903dde5dc185e64" providerId="LiveId" clId="{DE5B5285-7B2A-4415-A2F1-614B46D4DF2F}" dt="2026-08-18T16:26:28.539" v="237" actId="20577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Ainoham Jeptoo" userId="6903dde5dc185e64" providerId="LiveId" clId="{DE5B5285-7B2A-4415-A2F1-614B46D4DF2F}" dt="2026-08-18T16:10:55.269" v="93" actId="478"/>
          <ac:spMkLst>
            <pc:docMk/>
            <pc:sldMk cId="0" sldId="256"/>
            <ac:spMk id="7" creationId="{00000000-0000-0000-0000-000000000000}"/>
          </ac:spMkLst>
        </pc:spChg>
        <pc:spChg chg="mod">
          <ac:chgData name="Ainoham Jeptoo" userId="6903dde5dc185e64" providerId="LiveId" clId="{DE5B5285-7B2A-4415-A2F1-614B46D4DF2F}" dt="2026-08-18T16:24:17.857" v="230" actId="255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">
        <pc:chgData name="Ainoham Jeptoo" userId="6903dde5dc185e64" providerId="LiveId" clId="{DE5B5285-7B2A-4415-A2F1-614B46D4DF2F}" dt="2026-08-18T16:04:59.806" v="82" actId="931"/>
        <pc:sldMkLst>
          <pc:docMk/>
          <pc:sldMk cId="0" sldId="261"/>
        </pc:sldMkLst>
        <pc:picChg chg="add mod">
          <ac:chgData name="Ainoham Jeptoo" userId="6903dde5dc185e64" providerId="LiveId" clId="{DE5B5285-7B2A-4415-A2F1-614B46D4DF2F}" dt="2026-08-18T16:04:59.806" v="82" actId="931"/>
          <ac:picMkLst>
            <pc:docMk/>
            <pc:sldMk cId="0" sldId="261"/>
            <ac:picMk id="7" creationId="{44D23B90-31C6-48C8-E7C2-84F2A9B2DF1C}"/>
          </ac:picMkLst>
        </pc:picChg>
        <pc:picChg chg="del mod">
          <ac:chgData name="Ainoham Jeptoo" userId="6903dde5dc185e64" providerId="LiveId" clId="{DE5B5285-7B2A-4415-A2F1-614B46D4DF2F}" dt="2026-08-18T16:02:41.222" v="81" actId="478"/>
          <ac:picMkLst>
            <pc:docMk/>
            <pc:sldMk cId="0" sldId="261"/>
            <ac:picMk id="9" creationId="{3808F242-BB7F-48B0-AAB4-107F5691ABB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624375" y="-159588"/>
            <a:ext cx="12191695" cy="6858000"/>
          </a:xfrm>
          <a:prstGeom prst="rect">
            <a:avLst/>
          </a:prstGeom>
          <a:solidFill>
            <a:srgbClr val="19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Gabriel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Manthi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Eugin Wangila</a:t>
            </a:r>
          </a:p>
          <a:p>
            <a:pPr algn="ctr">
              <a:lnSpc>
                <a:spcPct val="150000"/>
              </a:lnSpc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Valerie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Susan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24128"/>
            <a:ext cx="10561320" cy="73152"/>
          </a:xfrm>
          <a:prstGeom prst="rect">
            <a:avLst/>
          </a:prstGeom>
          <a:solidFill>
            <a:srgbClr val="5BA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44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GROUP 3 MODULE III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>
                <a:solidFill>
                  <a:srgbClr val="D2E1F0"/>
                </a:solidFill>
                <a:latin typeface="Aptos"/>
              </a:defRPr>
            </a:pPr>
            <a:r>
              <a:t>Movie Industry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46208" y="3337560"/>
            <a:ext cx="186910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BAF5B"/>
                </a:solidFill>
                <a:latin typeface="Aptos"/>
              </a:defRPr>
            </a:pPr>
            <a:r>
              <a:rPr dirty="0"/>
              <a:t>GROUP M</a:t>
            </a:r>
            <a:r>
              <a:rPr lang="en-US" dirty="0"/>
              <a:t>E</a:t>
            </a:r>
            <a:r>
              <a:rPr dirty="0"/>
              <a:t>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8273" y="3886200"/>
            <a:ext cx="3088256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900">
                <a:solidFill>
                  <a:srgbClr val="F0F5FA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lvia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800"/>
              </a:spcAft>
              <a:defRPr sz="1900">
                <a:solidFill>
                  <a:srgbClr val="F0F5FA"/>
                </a:solidFill>
                <a:latin typeface="Aptos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Yahya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Osman</a:t>
            </a:r>
          </a:p>
          <a:p>
            <a:pPr algn="ctr">
              <a:spcAft>
                <a:spcPts val="800"/>
              </a:spcAft>
              <a:defRPr sz="1900">
                <a:solidFill>
                  <a:srgbClr val="F0F5FA"/>
                </a:solidFill>
                <a:latin typeface="Aptos"/>
              </a:defRPr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Ainoham Jeptoo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D2E1F0"/>
                </a:solidFill>
                <a:latin typeface="Aptos"/>
              </a:defRPr>
            </a:pPr>
            <a:r>
              <a:t>PROJECT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1. Business 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Turning historical movie data into practical decision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Movie studios must balance release timing, genre selection and production investment.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The project combines financial movie data with IMDb information to identify performance patterns.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Objective: support better decisions about release windows, genre prioritization and production budgets.</a:t>
            </a:r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</a:defRPr>
            </a:pPr>
            <a:r>
              <a:t>Key measures: worldwide gross, production budget, ROI, release month, genre and audience rating.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2. Data Sources &amp;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Financial files + IMDb SQLite data + documented project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204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114800"/>
          </a:xfrm>
          <a:prstGeom prst="rect">
            <a:avLst/>
          </a:prstGeom>
          <a:solidFill>
            <a:srgbClr val="30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709075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Movie Budget Data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Production budget, domestic gross,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worldwide gross, release date and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movie title.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4114800"/>
          </a:xfrm>
          <a:prstGeom prst="rect">
            <a:avLst/>
          </a:prstGeom>
          <a:solidFill>
            <a:srgbClr val="23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2756011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IMDb Database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Movie titles, genres, average ratings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and vote counts. IMDb tables are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connected through </a:t>
            </a:r>
            <a:r>
              <a:rPr dirty="0" err="1"/>
              <a:t>movie_id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52044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17320"/>
            <a:ext cx="73152" cy="4114800"/>
          </a:xfrm>
          <a:prstGeom prst="rect">
            <a:avLst/>
          </a:prstGeom>
          <a:solidFill>
            <a:srgbClr val="E1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2454005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Project Assets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zippedData/, </a:t>
            </a:r>
            <a:r>
              <a:rPr dirty="0" err="1"/>
              <a:t>im.db</a:t>
            </a:r>
            <a:r>
              <a:rPr dirty="0"/>
              <a:t>, ERD image,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 err="1"/>
              <a:t>Jupyter</a:t>
            </a:r>
            <a:r>
              <a:rPr dirty="0"/>
              <a:t> notebook, README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 and supporting documentation.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3. Data Preparation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Preparing raw data for reliable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Removed '$' and commas from monetary fields and converted them to numeric values.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Converted release_date to datetime and extracted release_month.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Calculated net_profit = worldwide_gross − production_budget.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Calculated ROI = (net_profit / production_budget) × 100.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Created loss_or_profit to classify movies as Profit or Loss.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Split multi-genre strings and used explode() to analyze individual genres.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4. Analytical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From raw data to business recommendations.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240280"/>
            <a:ext cx="1371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4632" y="2450592"/>
            <a:ext cx="12252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B48"/>
                </a:solidFill>
              </a:defRPr>
            </a:pPr>
            <a:r>
              <a:t>Load</a:t>
            </a:r>
          </a:p>
          <a:p>
            <a:pPr algn="ctr">
              <a:defRPr sz="1000">
                <a:solidFill>
                  <a:srgbClr val="646E7D"/>
                </a:solidFill>
              </a:defRPr>
            </a:pPr>
            <a:r>
              <a:t>CSV + SQLite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93976" y="2240280"/>
            <a:ext cx="1371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67128" y="2450592"/>
            <a:ext cx="12252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B48"/>
                </a:solidFill>
              </a:defRPr>
            </a:pPr>
            <a:r>
              <a:t>Clean</a:t>
            </a:r>
          </a:p>
          <a:p>
            <a:pPr algn="ctr">
              <a:defRPr sz="1000">
                <a:solidFill>
                  <a:srgbClr val="646E7D"/>
                </a:solidFill>
              </a:defRPr>
            </a:pPr>
            <a:r>
              <a:t>Types +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76472" y="2240280"/>
            <a:ext cx="1371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9624" y="2450592"/>
            <a:ext cx="12252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B48"/>
                </a:solidFill>
              </a:defRPr>
            </a:pPr>
            <a:r>
              <a:t>Transform</a:t>
            </a:r>
          </a:p>
          <a:p>
            <a:pPr algn="ctr">
              <a:defRPr sz="1000">
                <a:solidFill>
                  <a:srgbClr val="646E7D"/>
                </a:solidFill>
              </a:defRPr>
            </a:pPr>
            <a:r>
              <a:t>Profit +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58968" y="2240280"/>
            <a:ext cx="1371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2120" y="2450592"/>
            <a:ext cx="12252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B48"/>
                </a:solidFill>
              </a:defRPr>
            </a:pPr>
            <a:r>
              <a:t>Merge</a:t>
            </a:r>
          </a:p>
          <a:p>
            <a:pPr algn="ctr">
              <a:defRPr sz="1000">
                <a:solidFill>
                  <a:srgbClr val="646E7D"/>
                </a:solidFill>
              </a:defRPr>
            </a:pPr>
            <a:r>
              <a:t>Budget + IMDb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41464" y="2240280"/>
            <a:ext cx="1371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14616" y="2450592"/>
            <a:ext cx="12252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B48"/>
                </a:solidFill>
              </a:defRPr>
            </a:pPr>
            <a:r>
              <a:t>Analyze</a:t>
            </a:r>
          </a:p>
          <a:p>
            <a:pPr algn="ctr">
              <a:defRPr sz="1000">
                <a:solidFill>
                  <a:srgbClr val="646E7D"/>
                </a:solidFill>
              </a:defRPr>
            </a:pPr>
            <a:r>
              <a:t>Group + aggregate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240280"/>
            <a:ext cx="1371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97112" y="2450592"/>
            <a:ext cx="12252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B48"/>
                </a:solidFill>
              </a:defRPr>
            </a:pPr>
            <a:r>
              <a:t>Visualize</a:t>
            </a:r>
          </a:p>
          <a:p>
            <a:pPr algn="ctr">
              <a:defRPr sz="1000">
                <a:solidFill>
                  <a:srgbClr val="646E7D"/>
                </a:solidFill>
              </a:defRPr>
            </a:pPr>
            <a:r>
              <a:t>Charts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06456" y="2240280"/>
            <a:ext cx="1371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79608" y="2450592"/>
            <a:ext cx="12252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92B48"/>
                </a:solidFill>
              </a:defRPr>
            </a:pPr>
            <a:r>
              <a:t>Recommend</a:t>
            </a:r>
          </a:p>
          <a:p>
            <a:pPr algn="ctr">
              <a:defRPr sz="1000">
                <a:solidFill>
                  <a:srgbClr val="646E7D"/>
                </a:solidFill>
              </a:defRPr>
            </a:pPr>
            <a:r>
              <a:t>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78658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Business Question 1: Which Release Months Perform Best?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Two y-axes compare financial performance with release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32A34"/>
                </a:solidFill>
              </a:defRPr>
            </a:pPr>
            <a:r>
              <a:t>Prime windows: May–July and November–December.</a:t>
            </a:r>
          </a:p>
          <a:p>
            <a:pPr>
              <a:spcAft>
                <a:spcPts val="1000"/>
              </a:spcAft>
              <a:defRPr sz="1100">
                <a:solidFill>
                  <a:srgbClr val="232A34"/>
                </a:solidFill>
              </a:defRPr>
            </a:pPr>
            <a:r>
              <a:t>May has the highest average worldwide gross at about $162.3M.</a:t>
            </a:r>
          </a:p>
          <a:p>
            <a:pPr>
              <a:spcAft>
                <a:spcPts val="1000"/>
              </a:spcAft>
              <a:defRPr sz="1100">
                <a:solidFill>
                  <a:srgbClr val="232A34"/>
                </a:solidFill>
              </a:defRPr>
            </a:pPr>
            <a:r>
              <a:t>June and July follow at about $142.5M and $141.0M.</a:t>
            </a:r>
          </a:p>
          <a:p>
            <a:pPr>
              <a:spcAft>
                <a:spcPts val="1000"/>
              </a:spcAft>
              <a:defRPr sz="1100">
                <a:solidFill>
                  <a:srgbClr val="232A34"/>
                </a:solidFill>
              </a:defRPr>
            </a:pPr>
            <a:r>
              <a:t>December has the highest release volume (745), showing that volume and gross performance are different measures.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23B90-31C6-48C8-E7C2-84F2A9B2D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315"/>
            <a:ext cx="12192000" cy="60533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Business Question 1: Conclusion &amp;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578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73152" cy="4023360"/>
          </a:xfrm>
          <a:prstGeom prst="rect">
            <a:avLst/>
          </a:prstGeom>
          <a:solidFill>
            <a:srgbClr val="23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23573" cy="12926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sz="2000" dirty="0"/>
              <a:t>Conclusion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May–July and November–December emerge as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 prime release windows. May is the strongest individual month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by average worldwide gross.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578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73152" cy="4023360"/>
          </a:xfrm>
          <a:prstGeom prst="rect">
            <a:avLst/>
          </a:prstGeom>
          <a:solidFill>
            <a:srgbClr val="5BA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359591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Recommendation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Prioritize commercially strong releases in these windows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while considering competition, genre, marketing, audience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behavior and release volume.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Business Question 2: Which Genres Have the Highest ROI?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06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rPr dirty="0"/>
              <a:t>Top 10 genres ranked by median ROI.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2ACBDB-BE5D-41FA-89C8-0E06BA21A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39" y="1188678"/>
            <a:ext cx="8775804" cy="51099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Business Question 2: Conclusion &amp;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206240"/>
          </a:xfrm>
          <a:prstGeom prst="rect">
            <a:avLst/>
          </a:prstGeom>
          <a:solidFill>
            <a:srgbClr val="5BA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321504" cy="9643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Conclusion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Animation leads with a 179.0% median ROI, followed by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Mystery (151.3%), Adventure (145.3%) and Sci‑Fi (138.5%).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4206240"/>
          </a:xfrm>
          <a:prstGeom prst="rect">
            <a:avLst/>
          </a:prstGeom>
          <a:solidFill>
            <a:srgbClr val="23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677884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Recommendation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Give greater consideration to high-ROI genres, but combine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genre with budget, target audience, competition, release timing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and marketing strategy.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Business Question 3: How Does Production Budget Affect Performance?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Budget is compared with worldwide gross and audience rating.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232A34"/>
                </a:solidFill>
              </a:defRPr>
            </a:pPr>
            <a:r>
              <a:t>Higher production budgets generally correspond with higher worldwide gross.</a:t>
            </a:r>
          </a:p>
          <a:p>
            <a:pPr>
              <a:spcAft>
                <a:spcPts val="1000"/>
              </a:spcAft>
              <a:defRPr sz="1100">
                <a:solidFill>
                  <a:srgbClr val="232A34"/>
                </a:solidFill>
              </a:defRPr>
            </a:pPr>
            <a:r>
              <a:t>The relationship is not perfect: similar budgets can produce very different revenues.</a:t>
            </a:r>
          </a:p>
          <a:p>
            <a:pPr>
              <a:spcAft>
                <a:spcPts val="1000"/>
              </a:spcAft>
              <a:defRPr sz="1100">
                <a:solidFill>
                  <a:srgbClr val="232A34"/>
                </a:solidFill>
              </a:defRPr>
            </a:pPr>
            <a:r>
              <a:t>Production budget shows a relatively weak relationship with audience rating.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10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218E6C-76D4-41EB-9BA1-72100C947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53" y="1338836"/>
            <a:ext cx="10550013" cy="41803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Business Question 3: Conclusion &amp;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4206240"/>
          </a:xfrm>
          <a:prstGeom prst="rect">
            <a:avLst/>
          </a:prstGeom>
          <a:solidFill>
            <a:srgbClr val="E1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903843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Conclusion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Higher budgets are generally associated with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higher worldwide gross, but budget size alone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does not guarantee commercial success or higher audience ratings.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035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73152" cy="4206240"/>
          </a:xfrm>
          <a:prstGeom prst="rect">
            <a:avLst/>
          </a:prstGeom>
          <a:solidFill>
            <a:srgbClr val="306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316053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Recommendation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Optimize production budgets using expected revenue,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historical ROI, genre performance, release timing,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target audience, competition and marketing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Overall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The three business questions form one decision framework.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5661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3657600"/>
          </a:xfrm>
          <a:prstGeom prst="rect">
            <a:avLst/>
          </a:prstGeom>
          <a:solidFill>
            <a:srgbClr val="238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3277179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WHEN?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May–July and November–December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are the prime release windows identified by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historical average worldwide gross.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17320"/>
            <a:ext cx="35661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15968" y="1417320"/>
            <a:ext cx="73152" cy="3657600"/>
          </a:xfrm>
          <a:prstGeom prst="rect">
            <a:avLst/>
          </a:prstGeom>
          <a:solidFill>
            <a:srgbClr val="5BA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600200"/>
            <a:ext cx="3087705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WHAT?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Animation, Mystery, Adventure and Sci‑Fi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show the strongest median ROI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among the top 10 genres.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417320"/>
            <a:ext cx="356616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91856" y="1417320"/>
            <a:ext cx="73152" cy="3657600"/>
          </a:xfrm>
          <a:prstGeom prst="rect">
            <a:avLst/>
          </a:prstGeom>
          <a:solidFill>
            <a:srgbClr val="E18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0456" y="1600200"/>
            <a:ext cx="2956002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B48"/>
                </a:solidFill>
              </a:defRPr>
            </a:pPr>
            <a:r>
              <a:rPr dirty="0"/>
              <a:t>HOW MUCH?</a:t>
            </a:r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Optimize production budgets based on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expected return and risk rather than </a:t>
            </a:r>
            <a:endParaRPr lang="en-US" dirty="0"/>
          </a:p>
          <a:p>
            <a:pPr>
              <a:spcBef>
                <a:spcPts val="700"/>
              </a:spcBef>
              <a:defRPr sz="1350">
                <a:solidFill>
                  <a:srgbClr val="232A34"/>
                </a:solidFill>
              </a:defRPr>
            </a:pPr>
            <a:r>
              <a:rPr dirty="0"/>
              <a:t>assuming bigger is always better.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B48"/>
                </a:solidFill>
              </a:defRPr>
            </a:pPr>
            <a:r>
              <a:t>Genre → Budget → Expected ROI → Release Window → Marketing Strategy → Investment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B48"/>
                </a:solidFill>
                <a:latin typeface="Aptos Display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E7D"/>
                </a:solidFill>
              </a:defRPr>
            </a:pPr>
            <a:r>
              <a:t>What the analysis can—and cannot—tell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Historical relationships do not guarantee future box-office outcomes.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ROI is based on worldwide gross and production budget; additional costs such as marketing are not included.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Multi-genre movies can contribute to more than one genre after explode().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Future work could incorporate marketing spend, competition, franchise strength, distribution strategy and audience demographics.</a:t>
            </a:r>
          </a:p>
          <a:p>
            <a:pPr>
              <a:spcAft>
                <a:spcPts val="1000"/>
              </a:spcAft>
              <a:defRPr sz="1800">
                <a:solidFill>
                  <a:srgbClr val="232A34"/>
                </a:solidFill>
              </a:defRPr>
            </a:pPr>
            <a:r>
              <a:t>Predictive modeling could estimate expected gross or probability of profitability for future releases.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E7D"/>
                </a:solidFill>
              </a:defRPr>
            </a:pPr>
            <a:r>
              <a:t>Group 3 • Movie Industry Data Analysis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96696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D7E1EE"/>
                </a:solidFill>
              </a:defRPr>
            </a:pPr>
            <a:r>
              <a:t>Movie profitability is influenced by a combination of</a:t>
            </a:r>
          </a:p>
          <a:p>
            <a:pPr algn="ctr">
              <a:defRPr sz="2900" b="1">
                <a:solidFill>
                  <a:srgbClr val="FFFFFF"/>
                </a:solidFill>
              </a:defRPr>
            </a:pPr>
            <a:r>
              <a:t>RELEASE TIMING  •  GENRE  •  BUDGET</a:t>
            </a:r>
          </a:p>
          <a:p>
            <a:pPr algn="ctr">
              <a:defRPr sz="1700">
                <a:solidFill>
                  <a:srgbClr val="CDDCF0"/>
                </a:solidFill>
              </a:defRPr>
            </a:pPr>
            <a:r>
              <a:t>Data-driven analysis can turn these factors into more informed investment and release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493776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Thank You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1344</TotalTime>
  <Words>943</Words>
  <Application>Microsoft Office PowerPoint</Application>
  <PresentationFormat>Widescreen</PresentationFormat>
  <Paragraphs>139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Ainoham Jeptoo</cp:lastModifiedBy>
  <cp:revision>8</cp:revision>
  <dcterms:created xsi:type="dcterms:W3CDTF">2013-01-27T09:14:16Z</dcterms:created>
  <dcterms:modified xsi:type="dcterms:W3CDTF">2026-08-18T16:28:40Z</dcterms:modified>
  <cp:category/>
</cp:coreProperties>
</file>